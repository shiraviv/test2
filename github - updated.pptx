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handoutMasterIdLst>
    <p:handoutMasterId r:id="rId13"/>
  </p:handoutMasterIdLst>
  <p:sldIdLst>
    <p:sldId id="256" r:id="rId2"/>
    <p:sldId id="287" r:id="rId3"/>
    <p:sldId id="295" r:id="rId4"/>
    <p:sldId id="294" r:id="rId5"/>
    <p:sldId id="293" r:id="rId6"/>
    <p:sldId id="296" r:id="rId7"/>
    <p:sldId id="297" r:id="rId8"/>
    <p:sldId id="303" r:id="rId9"/>
    <p:sldId id="304" r:id="rId10"/>
    <p:sldId id="30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590139-3BB2-4DDE-91EF-345CA8608DD0}">
          <p14:sldIdLst>
            <p14:sldId id="256"/>
            <p14:sldId id="287"/>
            <p14:sldId id="295"/>
            <p14:sldId id="294"/>
            <p14:sldId id="293"/>
            <p14:sldId id="296"/>
            <p14:sldId id="297"/>
            <p14:sldId id="303"/>
            <p14:sldId id="304"/>
            <p14:sldId id="30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vshalom elmalech" initials="ae" lastIdx="1" clrIdx="0">
    <p:extLst>
      <p:ext uri="{19B8F6BF-5375-455C-9EA6-DF929625EA0E}">
        <p15:presenceInfo xmlns:p15="http://schemas.microsoft.com/office/powerpoint/2012/main" userId="avshalom elmalec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46" autoAdjust="0"/>
  </p:normalViewPr>
  <p:slideViewPr>
    <p:cSldViewPr snapToGrid="0">
      <p:cViewPr varScale="1">
        <p:scale>
          <a:sx n="80" d="100"/>
          <a:sy n="80" d="100"/>
        </p:scale>
        <p:origin x="771"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192594-0A71-493F-896B-7CDE487E8E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1A9100-CDA9-40A8-850C-C8D1E968FE5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8706B8-C811-401A-8463-646AF2F03289}" type="datetimeFigureOut">
              <a:rPr lang="en-US" smtClean="0"/>
              <a:t>11/13/2025</a:t>
            </a:fld>
            <a:endParaRPr lang="en-US"/>
          </a:p>
        </p:txBody>
      </p:sp>
      <p:sp>
        <p:nvSpPr>
          <p:cNvPr id="4" name="Footer Placeholder 3">
            <a:extLst>
              <a:ext uri="{FF2B5EF4-FFF2-40B4-BE49-F238E27FC236}">
                <a16:creationId xmlns:a16="http://schemas.microsoft.com/office/drawing/2014/main" id="{241424B7-F1FB-428B-8157-A0D9A0A352E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6566F0A-991D-4941-A939-272A00D0F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803571-CC3E-46F7-9F1F-F072B0D0227D}" type="slidenum">
              <a:rPr lang="en-US" smtClean="0"/>
              <a:t>‹#›</a:t>
            </a:fld>
            <a:endParaRPr lang="en-US"/>
          </a:p>
        </p:txBody>
      </p:sp>
    </p:spTree>
    <p:extLst>
      <p:ext uri="{BB962C8B-B14F-4D97-AF65-F5344CB8AC3E}">
        <p14:creationId xmlns:p14="http://schemas.microsoft.com/office/powerpoint/2010/main" val="2417978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74BB37-C068-43EA-8727-C841E01E93A4}"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506D59-BB2B-4CA9-8270-5B70574CF35E}" type="slidenum">
              <a:rPr lang="en-US" smtClean="0"/>
              <a:t>‹#›</a:t>
            </a:fld>
            <a:endParaRPr lang="en-US"/>
          </a:p>
        </p:txBody>
      </p:sp>
    </p:spTree>
    <p:extLst>
      <p:ext uri="{BB962C8B-B14F-4D97-AF65-F5344CB8AC3E}">
        <p14:creationId xmlns:p14="http://schemas.microsoft.com/office/powerpoint/2010/main" val="2000956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506D59-BB2B-4CA9-8270-5B70574CF35E}" type="slidenum">
              <a:rPr lang="en-US" smtClean="0"/>
              <a:t>1</a:t>
            </a:fld>
            <a:endParaRPr lang="en-US"/>
          </a:p>
        </p:txBody>
      </p:sp>
    </p:spTree>
    <p:extLst>
      <p:ext uri="{BB962C8B-B14F-4D97-AF65-F5344CB8AC3E}">
        <p14:creationId xmlns:p14="http://schemas.microsoft.com/office/powerpoint/2010/main" val="3022414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678737" y="6491044"/>
            <a:ext cx="2743200" cy="365125"/>
          </a:xfrm>
        </p:spPr>
        <p:txBody>
          <a:bodyPr/>
          <a:lstStyle>
            <a:lvl1pPr>
              <a:defRPr/>
            </a:lvl1pPr>
          </a:lstStyle>
          <a:p>
            <a:r>
              <a:rPr lang="en-US"/>
              <a:t>35869</a:t>
            </a:r>
            <a:endParaRPr lang="en-US" dirty="0"/>
          </a:p>
        </p:txBody>
      </p:sp>
      <p:sp>
        <p:nvSpPr>
          <p:cNvPr id="5" name="Footer Placeholder 4"/>
          <p:cNvSpPr>
            <a:spLocks noGrp="1"/>
          </p:cNvSpPr>
          <p:nvPr>
            <p:ph type="ftr" sz="quarter" idx="11"/>
          </p:nvPr>
        </p:nvSpPr>
        <p:spPr>
          <a:xfrm>
            <a:off x="913774" y="6485548"/>
            <a:ext cx="6672887" cy="365125"/>
          </a:xfrm>
        </p:spPr>
        <p:txBody>
          <a:bodyPr/>
          <a:lstStyle/>
          <a:p>
            <a:r>
              <a:rPr lang="en-US" dirty="0" err="1"/>
              <a:t>Avshalom</a:t>
            </a:r>
            <a:r>
              <a:rPr lang="en-US" dirty="0"/>
              <a:t> Elmalech </a:t>
            </a:r>
          </a:p>
        </p:txBody>
      </p:sp>
      <p:sp>
        <p:nvSpPr>
          <p:cNvPr id="6" name="Slide Number Placeholder 5"/>
          <p:cNvSpPr>
            <a:spLocks noGrp="1"/>
          </p:cNvSpPr>
          <p:nvPr>
            <p:ph type="sldNum" sz="quarter" idx="12"/>
          </p:nvPr>
        </p:nvSpPr>
        <p:spPr>
          <a:xfrm>
            <a:off x="10514011" y="6480098"/>
            <a:ext cx="764215" cy="365125"/>
          </a:xfrm>
        </p:spPr>
        <p:txBody>
          <a:bodyPr/>
          <a:lstStyle/>
          <a:p>
            <a:fld id="{9B5A90DD-3EBB-41EE-A237-54737F53FE3A}" type="slidenum">
              <a:rPr lang="en-US" smtClean="0"/>
              <a:t>‹#›</a:t>
            </a:fld>
            <a:endParaRPr lang="en-US"/>
          </a:p>
        </p:txBody>
      </p:sp>
    </p:spTree>
    <p:extLst>
      <p:ext uri="{BB962C8B-B14F-4D97-AF65-F5344CB8AC3E}">
        <p14:creationId xmlns:p14="http://schemas.microsoft.com/office/powerpoint/2010/main" val="4191356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76"/>
            <a:ext cx="12192000" cy="7454810"/>
          </a:xfrm>
          <a:prstGeom prst="rect">
            <a:avLst/>
          </a:prstGeom>
        </p:spPr>
      </p:pic>
      <p:sp>
        <p:nvSpPr>
          <p:cNvPr id="2" name="Title 1"/>
          <p:cNvSpPr>
            <a:spLocks noGrp="1"/>
          </p:cNvSpPr>
          <p:nvPr>
            <p:ph type="title"/>
          </p:nvPr>
        </p:nvSpPr>
        <p:spPr>
          <a:xfrm>
            <a:off x="913775" y="618517"/>
            <a:ext cx="10364451" cy="1073397"/>
          </a:xfrm>
        </p:spPr>
        <p:txBody>
          <a:bodyPr/>
          <a:lstStyle/>
          <a:p>
            <a:r>
              <a:rPr lang="en-US"/>
              <a:t>Click to edit Master title style</a:t>
            </a:r>
            <a:endParaRPr lang="en-US" dirty="0"/>
          </a:p>
        </p:txBody>
      </p:sp>
      <p:sp>
        <p:nvSpPr>
          <p:cNvPr id="12" name="Content Placeholder 2"/>
          <p:cNvSpPr>
            <a:spLocks noGrp="1"/>
          </p:cNvSpPr>
          <p:nvPr>
            <p:ph sz="quarter" idx="13" hasCustomPrompt="1"/>
          </p:nvPr>
        </p:nvSpPr>
        <p:spPr>
          <a:xfrm>
            <a:off x="913774" y="1779522"/>
            <a:ext cx="10363826" cy="4663314"/>
          </a:xfrm>
        </p:spPr>
        <p:txBody>
          <a:bodyPr/>
          <a:lstStyle>
            <a:lvl1pPr>
              <a:defRPr cap="none"/>
            </a:lvl1pPr>
            <a:lvl2pPr>
              <a:defRPr cap="none"/>
            </a:lvl2pPr>
            <a:lvl3pPr>
              <a:defRPr cap="none"/>
            </a:lvl3pPr>
            <a:lvl4pPr>
              <a:defRPr cap="none"/>
            </a:lvl4pPr>
            <a:lvl5pPr>
              <a:defRPr cap="none"/>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678737" y="6442835"/>
            <a:ext cx="2743200" cy="396900"/>
          </a:xfrm>
        </p:spPr>
        <p:txBody>
          <a:bodyPr/>
          <a:lstStyle>
            <a:lvl1pPr>
              <a:defRPr/>
            </a:lvl1pPr>
          </a:lstStyle>
          <a:p>
            <a:r>
              <a:rPr lang="en-US"/>
              <a:t>35869</a:t>
            </a:r>
            <a:endParaRPr lang="en-US" dirty="0"/>
          </a:p>
        </p:txBody>
      </p:sp>
      <p:sp>
        <p:nvSpPr>
          <p:cNvPr id="5" name="Footer Placeholder 4"/>
          <p:cNvSpPr>
            <a:spLocks noGrp="1"/>
          </p:cNvSpPr>
          <p:nvPr>
            <p:ph type="ftr" sz="quarter" idx="11"/>
          </p:nvPr>
        </p:nvSpPr>
        <p:spPr>
          <a:xfrm>
            <a:off x="913774" y="6448310"/>
            <a:ext cx="6672887" cy="396900"/>
          </a:xfrm>
        </p:spPr>
        <p:txBody>
          <a:bodyPr/>
          <a:lstStyle/>
          <a:p>
            <a:r>
              <a:rPr lang="en-US"/>
              <a:t>Avshalom Elmalech </a:t>
            </a:r>
            <a:endParaRPr lang="en-US" dirty="0"/>
          </a:p>
        </p:txBody>
      </p:sp>
      <p:sp>
        <p:nvSpPr>
          <p:cNvPr id="6" name="Slide Number Placeholder 5"/>
          <p:cNvSpPr>
            <a:spLocks noGrp="1"/>
          </p:cNvSpPr>
          <p:nvPr>
            <p:ph type="sldNum" sz="quarter" idx="12"/>
          </p:nvPr>
        </p:nvSpPr>
        <p:spPr>
          <a:xfrm>
            <a:off x="10514011" y="6442835"/>
            <a:ext cx="764215" cy="396900"/>
          </a:xfrm>
        </p:spPr>
        <p:txBody>
          <a:bodyPr/>
          <a:lstStyle/>
          <a:p>
            <a:fld id="{9B5A90DD-3EBB-41EE-A237-54737F53FE3A}" type="slidenum">
              <a:rPr lang="en-US" smtClean="0"/>
              <a:t>‹#›</a:t>
            </a:fld>
            <a:endParaRPr lang="en-US"/>
          </a:p>
        </p:txBody>
      </p:sp>
    </p:spTree>
    <p:extLst>
      <p:ext uri="{BB962C8B-B14F-4D97-AF65-F5344CB8AC3E}">
        <p14:creationId xmlns:p14="http://schemas.microsoft.com/office/powerpoint/2010/main" val="30635684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4">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r>
              <a:rPr lang="en-US"/>
              <a:t>35869</a:t>
            </a:r>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r>
              <a:rPr lang="en-US"/>
              <a:t>Avshalom Elmalech </a:t>
            </a:r>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9B5A90DD-3EBB-41EE-A237-54737F53FE3A}" type="slidenum">
              <a:rPr lang="en-US" smtClean="0"/>
              <a:t>‹#›</a:t>
            </a:fld>
            <a:endParaRPr lang="en-US"/>
          </a:p>
        </p:txBody>
      </p:sp>
    </p:spTree>
    <p:extLst>
      <p:ext uri="{BB962C8B-B14F-4D97-AF65-F5344CB8AC3E}">
        <p14:creationId xmlns:p14="http://schemas.microsoft.com/office/powerpoint/2010/main" val="3569263029"/>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join" TargetMode="External"/><Relationship Id="rId2" Type="http://schemas.openxmlformats.org/officeDocument/2006/relationships/hyperlink" Target="https://git-scm.com/book/en/v2/Getting-Started-Installing-Gi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help.github.com/en/github/creating-cloning-and-archiving-repositories/about-repositori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969A897-0EC7-47AE-B58E-3E0A83E0BB96}"/>
              </a:ext>
            </a:extLst>
          </p:cNvPr>
          <p:cNvSpPr>
            <a:spLocks noGrp="1"/>
          </p:cNvSpPr>
          <p:nvPr>
            <p:ph type="ctrTitle"/>
          </p:nvPr>
        </p:nvSpPr>
        <p:spPr/>
        <p:txBody>
          <a:bodyPr/>
          <a:lstStyle/>
          <a:p>
            <a:r>
              <a:rPr lang="en-US" dirty="0" err="1"/>
              <a:t>Github</a:t>
            </a:r>
            <a:endParaRPr lang="en-US" dirty="0"/>
          </a:p>
        </p:txBody>
      </p:sp>
      <p:sp>
        <p:nvSpPr>
          <p:cNvPr id="7" name="Subtitle 6">
            <a:extLst>
              <a:ext uri="{FF2B5EF4-FFF2-40B4-BE49-F238E27FC236}">
                <a16:creationId xmlns:a16="http://schemas.microsoft.com/office/drawing/2014/main" id="{B758D914-7A36-4BC3-BD09-BC59D029426D}"/>
              </a:ext>
            </a:extLst>
          </p:cNvPr>
          <p:cNvSpPr>
            <a:spLocks noGrp="1"/>
          </p:cNvSpPr>
          <p:nvPr>
            <p:ph type="subTitle" idx="1"/>
          </p:nvPr>
        </p:nvSpPr>
        <p:spPr/>
        <p:txBody>
          <a:bodyPr>
            <a:normAutofit/>
          </a:bodyPr>
          <a:lstStyle/>
          <a:p>
            <a:endParaRPr lang="en-US" dirty="0"/>
          </a:p>
        </p:txBody>
      </p:sp>
      <p:sp>
        <p:nvSpPr>
          <p:cNvPr id="9" name="Slide Number Placeholder 8">
            <a:extLst>
              <a:ext uri="{FF2B5EF4-FFF2-40B4-BE49-F238E27FC236}">
                <a16:creationId xmlns:a16="http://schemas.microsoft.com/office/drawing/2014/main" id="{1E925C80-A9D2-49E1-8F84-174227491D33}"/>
              </a:ext>
            </a:extLst>
          </p:cNvPr>
          <p:cNvSpPr>
            <a:spLocks noGrp="1"/>
          </p:cNvSpPr>
          <p:nvPr>
            <p:ph type="sldNum" sz="quarter" idx="12"/>
          </p:nvPr>
        </p:nvSpPr>
        <p:spPr/>
        <p:txBody>
          <a:bodyPr/>
          <a:lstStyle/>
          <a:p>
            <a:fld id="{9B5A90DD-3EBB-41EE-A237-54737F53FE3A}" type="slidenum">
              <a:rPr lang="en-US" smtClean="0"/>
              <a:t>1</a:t>
            </a:fld>
            <a:endParaRPr lang="en-US"/>
          </a:p>
        </p:txBody>
      </p:sp>
    </p:spTree>
    <p:extLst>
      <p:ext uri="{BB962C8B-B14F-4D97-AF65-F5344CB8AC3E}">
        <p14:creationId xmlns:p14="http://schemas.microsoft.com/office/powerpoint/2010/main" val="2463077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p:txBody>
          <a:bodyPr/>
          <a:lstStyle/>
          <a:p>
            <a:r>
              <a:rPr lang="en-US" dirty="0"/>
              <a:t>Version control systems (VCS)</a:t>
            </a:r>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p:txBody>
          <a:bodyPr/>
          <a:lstStyle/>
          <a:p>
            <a:r>
              <a:rPr lang="en-US" dirty="0"/>
              <a:t>Version control, also known as source control, is the practice of tracking and managing changes to software code. Version control systems are software tools that help software teams manage changes to source code over time. </a:t>
            </a:r>
          </a:p>
          <a:p>
            <a:r>
              <a:rPr lang="en-US" dirty="0"/>
              <a:t>Version control software keeps track of every modification to the code in a special kind of database. If a mistake is made, developers can “turn back the clock” and compare earlier versions of the code to help fix the mistake while minimizing disruption to all team members.</a:t>
            </a:r>
          </a:p>
          <a:p>
            <a:r>
              <a:rPr lang="en-US" dirty="0"/>
              <a:t>Version control track every individual change by each contributor and help prevent concurrent work from conflicting. Changes made in one part of the software can be incompatible with those made by another developer working at the same time. This problem should be discovered and solved in an orderly manner without blocking the work of the rest of the team.</a:t>
            </a:r>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2</a:t>
            </a:fld>
            <a:endParaRPr lang="en-US"/>
          </a:p>
        </p:txBody>
      </p:sp>
    </p:spTree>
    <p:extLst>
      <p:ext uri="{BB962C8B-B14F-4D97-AF65-F5344CB8AC3E}">
        <p14:creationId xmlns:p14="http://schemas.microsoft.com/office/powerpoint/2010/main" val="1784954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p:txBody>
          <a:bodyPr/>
          <a:lstStyle/>
          <a:p>
            <a:r>
              <a:rPr lang="en-US" dirty="0"/>
              <a:t>Why use VCS</a:t>
            </a:r>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p:txBody>
          <a:bodyPr/>
          <a:lstStyle/>
          <a:p>
            <a:r>
              <a:rPr lang="en-US" dirty="0"/>
              <a:t>complete long-term change history of every file. Every change made by many individuals over the years is saved. Changes include the creation and deletion of files as well as edits to their contents. This history should also include the author, date and written notes on the purpose of each change.</a:t>
            </a:r>
          </a:p>
          <a:p>
            <a:r>
              <a:rPr lang="en-US" dirty="0"/>
              <a:t>Branching and merging. Creating a "branch" in VCS tools keeps multiple streams of work independent from each other while also providing the facility to merge that work back together, enabling developers to verify that the changes on each branch do not conflict.  </a:t>
            </a:r>
          </a:p>
          <a:p>
            <a:r>
              <a:rPr lang="en-US" dirty="0"/>
              <a:t>Traceability. Being able to trace each change made to the software and connect it to project management and bug tracking software, and being able to annotate each change with a message describing the purpose and intent of the change can help not only with root cause analysis and other forensics.</a:t>
            </a:r>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3</a:t>
            </a:fld>
            <a:endParaRPr lang="en-US"/>
          </a:p>
        </p:txBody>
      </p:sp>
    </p:spTree>
    <p:extLst>
      <p:ext uri="{BB962C8B-B14F-4D97-AF65-F5344CB8AC3E}">
        <p14:creationId xmlns:p14="http://schemas.microsoft.com/office/powerpoint/2010/main" val="376485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p:txBody>
          <a:bodyPr/>
          <a:lstStyle/>
          <a:p>
            <a:r>
              <a:rPr lang="en-US" dirty="0"/>
              <a:t>GIT</a:t>
            </a:r>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p:txBody>
          <a:bodyPr/>
          <a:lstStyle/>
          <a:p>
            <a:r>
              <a:rPr lang="en-US" dirty="0"/>
              <a:t>Git is a </a:t>
            </a:r>
            <a:r>
              <a:rPr lang="en-US" i="1" dirty="0"/>
              <a:t>Distributed</a:t>
            </a:r>
            <a:r>
              <a:rPr lang="en-US" dirty="0"/>
              <a:t> VCS, a category known as DVCS. Rather than have only one single place for the full version history of the software, in Git, every developer's working copy of the code is also a repository that can contain the full history of all changes.</a:t>
            </a:r>
          </a:p>
          <a:p>
            <a:r>
              <a:rPr lang="en-US" dirty="0"/>
              <a:t>Git is free and open source. </a:t>
            </a:r>
          </a:p>
          <a:p>
            <a:r>
              <a:rPr lang="en-US" dirty="0"/>
              <a:t>The object format of Git's repository files uses a combination of delta encoding (storing content differences), compression and explicitly stores directory contents and version metadata objects.</a:t>
            </a:r>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4</a:t>
            </a:fld>
            <a:endParaRPr lang="en-US"/>
          </a:p>
        </p:txBody>
      </p:sp>
    </p:spTree>
    <p:extLst>
      <p:ext uri="{BB962C8B-B14F-4D97-AF65-F5344CB8AC3E}">
        <p14:creationId xmlns:p14="http://schemas.microsoft.com/office/powerpoint/2010/main" val="603608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p:txBody>
          <a:bodyPr/>
          <a:lstStyle/>
          <a:p>
            <a:r>
              <a:rPr lang="en-US" dirty="0"/>
              <a:t>Git and </a:t>
            </a:r>
            <a:r>
              <a:rPr lang="en-US" dirty="0" err="1"/>
              <a:t>github</a:t>
            </a:r>
            <a:endParaRPr lang="en-US" dirty="0"/>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p:txBody>
          <a:bodyPr/>
          <a:lstStyle/>
          <a:p>
            <a:r>
              <a:rPr lang="en-US" dirty="0"/>
              <a:t>git and GitHub are </a:t>
            </a:r>
            <a:r>
              <a:rPr lang="en-US" b="1" i="1" dirty="0"/>
              <a:t>not </a:t>
            </a:r>
            <a:r>
              <a:rPr lang="en-US" dirty="0"/>
              <a:t>the same thing. </a:t>
            </a:r>
          </a:p>
          <a:p>
            <a:r>
              <a:rPr lang="en-US" dirty="0"/>
              <a:t>Git is an open-source, version control tool created in 2005 </a:t>
            </a:r>
            <a:endParaRPr lang="he-IL" dirty="0"/>
          </a:p>
          <a:p>
            <a:r>
              <a:rPr lang="en-US" dirty="0"/>
              <a:t>GitHub is a company founded in 2008 that makes tools which integrate with git. </a:t>
            </a:r>
            <a:endParaRPr lang="he-IL" dirty="0"/>
          </a:p>
          <a:p>
            <a:r>
              <a:rPr lang="en-US" dirty="0"/>
              <a:t>You do not need GitHub to use git, but you cannot use GitHub without using git. There are many other alternatives to GitHub, such as GitLab, </a:t>
            </a:r>
            <a:r>
              <a:rPr lang="en-US" dirty="0" err="1"/>
              <a:t>BitBucket</a:t>
            </a:r>
            <a:endParaRPr lang="en-US" dirty="0"/>
          </a:p>
          <a:p>
            <a:r>
              <a:rPr lang="en-US" dirty="0"/>
              <a:t>If you only want to keep track of your code locally, you don't need to use GitHub. But if you want to work with a team, you can use GitHub to collaboratively modify the project's code.</a:t>
            </a:r>
            <a:endParaRPr lang="he-IL" dirty="0"/>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5</a:t>
            </a:fld>
            <a:endParaRPr lang="en-US"/>
          </a:p>
        </p:txBody>
      </p:sp>
    </p:spTree>
    <p:extLst>
      <p:ext uri="{BB962C8B-B14F-4D97-AF65-F5344CB8AC3E}">
        <p14:creationId xmlns:p14="http://schemas.microsoft.com/office/powerpoint/2010/main" val="1152253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p:txBody>
          <a:bodyPr>
            <a:normAutofit lnSpcReduction="10000"/>
          </a:bodyPr>
          <a:lstStyle/>
          <a:p>
            <a:r>
              <a:rPr lang="en-US" dirty="0"/>
              <a:t>Install git and create a free GitHub account</a:t>
            </a:r>
          </a:p>
          <a:p>
            <a:r>
              <a:rPr lang="en-US" dirty="0"/>
              <a:t>Instructions</a:t>
            </a:r>
            <a:r>
              <a:rPr lang="en-US" dirty="0">
                <a:hlinkClick r:id="rId2"/>
              </a:rPr>
              <a:t> here</a:t>
            </a:r>
            <a:r>
              <a:rPr lang="en-US" dirty="0"/>
              <a:t> to install git</a:t>
            </a:r>
          </a:p>
          <a:p>
            <a:r>
              <a:rPr lang="en-US" dirty="0"/>
              <a:t>Create a GitHub account </a:t>
            </a:r>
            <a:r>
              <a:rPr lang="en-US" dirty="0">
                <a:hlinkClick r:id="rId3"/>
              </a:rPr>
              <a:t>here</a:t>
            </a:r>
            <a:r>
              <a:rPr lang="en-US" dirty="0"/>
              <a:t>.</a:t>
            </a:r>
          </a:p>
          <a:p>
            <a:r>
              <a:rPr lang="en-US" dirty="0"/>
              <a:t>A repository is usually used to organize a single project. Repositories can contain folders and files, images, videos, spreadsheets, and data sets -- anything your project needs. Often, repositories include a </a:t>
            </a:r>
            <a:r>
              <a:rPr lang="en-US" i="1" dirty="0"/>
              <a:t>README</a:t>
            </a:r>
            <a:r>
              <a:rPr lang="en-US" dirty="0"/>
              <a:t> file, a file with information about your project. </a:t>
            </a:r>
          </a:p>
          <a:p>
            <a:r>
              <a:rPr lang="en-US" dirty="0"/>
              <a:t>Create a new repository on GitHub- log in and go to the GitHub home page. You can find the “New repository” option under the “+” sign next to your profile picture, in the top right corner of the navbar.</a:t>
            </a:r>
          </a:p>
          <a:p>
            <a:r>
              <a:rPr lang="en-US" dirty="0"/>
              <a:t>GitHub will ask you to name your repo and provide a brief description. Select if the repo is private or public.</a:t>
            </a:r>
            <a:endParaRPr lang="he-IL" dirty="0"/>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6</a:t>
            </a:fld>
            <a:endParaRPr lang="en-US"/>
          </a:p>
        </p:txBody>
      </p:sp>
    </p:spTree>
    <p:extLst>
      <p:ext uri="{BB962C8B-B14F-4D97-AF65-F5344CB8AC3E}">
        <p14:creationId xmlns:p14="http://schemas.microsoft.com/office/powerpoint/2010/main" val="2711642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a:xfrm>
            <a:off x="913149" y="186438"/>
            <a:ext cx="10364451" cy="1073397"/>
          </a:xfrm>
        </p:spPr>
        <p:txBody>
          <a:bodyPr/>
          <a:lstStyle/>
          <a:p>
            <a:r>
              <a:rPr lang="en-US" dirty="0"/>
              <a:t>branches</a:t>
            </a:r>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a:xfrm>
            <a:off x="702759" y="975654"/>
            <a:ext cx="10363826" cy="5695908"/>
          </a:xfrm>
        </p:spPr>
        <p:txBody>
          <a:bodyPr>
            <a:normAutofit/>
          </a:bodyPr>
          <a:lstStyle/>
          <a:p>
            <a:r>
              <a:rPr lang="en-US" dirty="0"/>
              <a:t>Branching lets you have different versions of a repository at one time.</a:t>
            </a:r>
          </a:p>
          <a:p>
            <a:r>
              <a:rPr lang="en-US" dirty="0"/>
              <a:t>By default, your repository has one branch named main that is considered to be the definitive branch. You can create additional branches off of main in your repository. You can use branches to have different versions of a project at one time. This is helpful when you want to add new features to a project without changing the main source of code. The work done on different branches will not show up on the main branch until you merge it.</a:t>
            </a:r>
          </a:p>
          <a:p>
            <a:r>
              <a:rPr lang="en-US" dirty="0"/>
              <a:t>When you create a branch off the main branch, you're making a copy, or snapshot, of main as it was at that point in time.</a:t>
            </a:r>
          </a:p>
          <a:p>
            <a:r>
              <a:rPr lang="en-US" dirty="0"/>
              <a:t>Click the Code tab of your created repository, Click the drop down at the top of the file list that says main. </a:t>
            </a:r>
          </a:p>
          <a:p>
            <a:r>
              <a:rPr lang="en-US" dirty="0"/>
              <a:t>Type a branch name, &lt;</a:t>
            </a:r>
            <a:r>
              <a:rPr lang="en-US" dirty="0" err="1"/>
              <a:t>branch_name</a:t>
            </a:r>
            <a:r>
              <a:rPr lang="en-US" dirty="0"/>
              <a:t>&gt;, into the text box.</a:t>
            </a:r>
          </a:p>
          <a:p>
            <a:r>
              <a:rPr lang="en-US" dirty="0"/>
              <a:t>Click Create branch: &lt;</a:t>
            </a:r>
            <a:r>
              <a:rPr lang="en-US" dirty="0" err="1"/>
              <a:t>branch_name</a:t>
            </a:r>
            <a:r>
              <a:rPr lang="en-US" dirty="0"/>
              <a:t>&gt; from main.</a:t>
            </a:r>
          </a:p>
          <a:p>
            <a:r>
              <a:rPr lang="en-US" dirty="0"/>
              <a:t>Now you have two branches, main and &lt;</a:t>
            </a:r>
            <a:r>
              <a:rPr lang="en-US" dirty="0" err="1"/>
              <a:t>branch_name</a:t>
            </a:r>
            <a:r>
              <a:rPr lang="en-US" dirty="0"/>
              <a:t>&gt;</a:t>
            </a:r>
          </a:p>
          <a:p>
            <a:endParaRPr lang="he-IL" dirty="0"/>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7</a:t>
            </a:fld>
            <a:endParaRPr lang="en-US"/>
          </a:p>
        </p:txBody>
      </p:sp>
    </p:spTree>
    <p:extLst>
      <p:ext uri="{BB962C8B-B14F-4D97-AF65-F5344CB8AC3E}">
        <p14:creationId xmlns:p14="http://schemas.microsoft.com/office/powerpoint/2010/main" val="633136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a:xfrm>
            <a:off x="913149" y="186438"/>
            <a:ext cx="10364451" cy="1073397"/>
          </a:xfrm>
        </p:spPr>
        <p:txBody>
          <a:bodyPr/>
          <a:lstStyle/>
          <a:p>
            <a:r>
              <a:rPr lang="en-US" dirty="0"/>
              <a:t>GITHUB and VSC</a:t>
            </a:r>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a:xfrm>
            <a:off x="702759" y="975654"/>
            <a:ext cx="10363826" cy="5695908"/>
          </a:xfrm>
        </p:spPr>
        <p:txBody>
          <a:bodyPr>
            <a:normAutofit fontScale="92500" lnSpcReduction="10000"/>
          </a:bodyPr>
          <a:lstStyle/>
          <a:p>
            <a:r>
              <a:rPr lang="en-US" dirty="0"/>
              <a:t>VSC lets you manage Git projects hosted on GitHub directly from the IDE: clone repositories, share your projects and more..</a:t>
            </a:r>
          </a:p>
          <a:p>
            <a:r>
              <a:rPr lang="en-US" dirty="0"/>
              <a:t>You can clone a </a:t>
            </a:r>
            <a:r>
              <a:rPr lang="en-US" dirty="0">
                <a:hlinkClick r:id="rId2"/>
              </a:rPr>
              <a:t>repository</a:t>
            </a:r>
            <a:r>
              <a:rPr lang="en-US" dirty="0"/>
              <a:t> that you want to contribute to directly from VSC</a:t>
            </a:r>
          </a:p>
          <a:p>
            <a:r>
              <a:rPr lang="en-US" dirty="0"/>
              <a:t>    </a:t>
            </a:r>
            <a:r>
              <a:rPr lang="en-US" b="1" dirty="0"/>
              <a:t>Clone a Repository</a:t>
            </a:r>
            <a:r>
              <a:rPr lang="en-US" dirty="0"/>
              <a:t>: Use the command palette (Ctrl + Shift + P) and select </a:t>
            </a:r>
            <a:r>
              <a:rPr lang="en-US" b="1" dirty="0"/>
              <a:t>Git: Clone</a:t>
            </a:r>
            <a:r>
              <a:rPr lang="en-US" dirty="0"/>
              <a:t> to clone a repository from GitHub. </a:t>
            </a:r>
          </a:p>
          <a:p>
            <a:r>
              <a:rPr lang="en-US" dirty="0"/>
              <a:t>If you are not signed in to GitHub, sign in in the browse window.</a:t>
            </a:r>
          </a:p>
          <a:p>
            <a:r>
              <a:rPr lang="en-US" dirty="0"/>
              <a:t>Select a repository from the list of all GitHub projects associated with your account.</a:t>
            </a:r>
          </a:p>
          <a:p>
            <a:r>
              <a:rPr lang="en-US" dirty="0"/>
              <a:t>    In the Directory field, enter the path to the folder where your local Git repository will be created.</a:t>
            </a:r>
          </a:p>
          <a:p>
            <a:r>
              <a:rPr lang="en-US" dirty="0"/>
              <a:t>  Click Clone.</a:t>
            </a:r>
          </a:p>
          <a:p>
            <a:r>
              <a:rPr lang="en-US" b="1" dirty="0"/>
              <a:t>Make Changes</a:t>
            </a:r>
            <a:r>
              <a:rPr lang="en-US" dirty="0"/>
              <a:t>: Edit files and manage your code within VS Code.</a:t>
            </a:r>
          </a:p>
          <a:p>
            <a:r>
              <a:rPr lang="en-US" b="1" dirty="0"/>
              <a:t>Commit Changes</a:t>
            </a:r>
            <a:r>
              <a:rPr lang="en-US" dirty="0"/>
              <a:t>: Use the Source Control panel to stage and commit your changes.</a:t>
            </a:r>
          </a:p>
          <a:p>
            <a:r>
              <a:rPr lang="en-US" b="1" dirty="0"/>
              <a:t>Push to GitHub</a:t>
            </a:r>
            <a:r>
              <a:rPr lang="en-US" dirty="0"/>
              <a:t>: Push your commits to the remote repository on GitHub.</a:t>
            </a:r>
          </a:p>
          <a:p>
            <a:r>
              <a:rPr lang="en-US" b="1" dirty="0"/>
              <a:t>Pull from GitHub:</a:t>
            </a:r>
            <a:r>
              <a:rPr lang="en-US" dirty="0"/>
              <a:t> Pull the files others may have changed from the remote repository on GitHub</a:t>
            </a:r>
          </a:p>
          <a:p>
            <a:endParaRPr lang="en-US" dirty="0"/>
          </a:p>
          <a:p>
            <a:pPr marL="0" indent="0">
              <a:buNone/>
            </a:pPr>
            <a:endParaRPr lang="en-US" dirty="0"/>
          </a:p>
          <a:p>
            <a:endParaRPr lang="he-IL" dirty="0"/>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8</a:t>
            </a:fld>
            <a:endParaRPr lang="en-US"/>
          </a:p>
        </p:txBody>
      </p:sp>
    </p:spTree>
    <p:extLst>
      <p:ext uri="{BB962C8B-B14F-4D97-AF65-F5344CB8AC3E}">
        <p14:creationId xmlns:p14="http://schemas.microsoft.com/office/powerpoint/2010/main" val="285546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a:xfrm>
            <a:off x="913149" y="186438"/>
            <a:ext cx="10364451" cy="1073397"/>
          </a:xfrm>
        </p:spPr>
        <p:txBody>
          <a:bodyPr/>
          <a:lstStyle/>
          <a:p>
            <a:r>
              <a:rPr lang="en-US" dirty="0"/>
              <a:t>Share project in </a:t>
            </a:r>
            <a:r>
              <a:rPr lang="en-US" dirty="0" err="1"/>
              <a:t>github</a:t>
            </a:r>
            <a:endParaRPr lang="en-US" dirty="0"/>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a:xfrm>
            <a:off x="702759" y="975654"/>
            <a:ext cx="10363826" cy="5695908"/>
          </a:xfrm>
        </p:spPr>
        <p:txBody>
          <a:bodyPr>
            <a:normAutofit/>
          </a:bodyPr>
          <a:lstStyle/>
          <a:p>
            <a:r>
              <a:rPr lang="en-US" dirty="0"/>
              <a:t>You can add a remote GitHub repository for a project you are developing locally, so that others can view it or contribute to it.</a:t>
            </a:r>
          </a:p>
          <a:p>
            <a:r>
              <a:rPr lang="en-US" dirty="0"/>
              <a:t> Open the project you want to share.</a:t>
            </a:r>
          </a:p>
          <a:p>
            <a:r>
              <a:rPr lang="en-US" dirty="0"/>
              <a:t> From the Source Control panel, select </a:t>
            </a:r>
            <a:r>
              <a:rPr lang="en-US" b="1" dirty="0"/>
              <a:t>Publish to GitHub</a:t>
            </a:r>
            <a:r>
              <a:rPr lang="en-US" dirty="0"/>
              <a:t>.</a:t>
            </a:r>
          </a:p>
          <a:p>
            <a:r>
              <a:rPr lang="en-US" dirty="0"/>
              <a:t> Specify the new repository name, the name of the remote</a:t>
            </a:r>
          </a:p>
          <a:p>
            <a:r>
              <a:rPr lang="en-US" dirty="0"/>
              <a:t>You can select the Private option if you do not want to allow public access to your repository for other GitHub users.</a:t>
            </a:r>
          </a:p>
          <a:p>
            <a:r>
              <a:rPr lang="en-US" dirty="0"/>
              <a:t>Select which initial files to upload or cancel to not upload any files</a:t>
            </a:r>
          </a:p>
          <a:p>
            <a:r>
              <a:rPr lang="en-US" dirty="0"/>
              <a:t>Click OK</a:t>
            </a:r>
          </a:p>
          <a:p>
            <a:endParaRPr lang="en-US" dirty="0"/>
          </a:p>
          <a:p>
            <a:endParaRPr lang="he-IL" dirty="0"/>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9</a:t>
            </a:fld>
            <a:endParaRPr lang="en-US"/>
          </a:p>
        </p:txBody>
      </p:sp>
    </p:spTree>
    <p:extLst>
      <p:ext uri="{BB962C8B-B14F-4D97-AF65-F5344CB8AC3E}">
        <p14:creationId xmlns:p14="http://schemas.microsoft.com/office/powerpoint/2010/main" val="1301032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30FE7-D389-4B22-AA9A-2FDA9D59B631}"/>
              </a:ext>
            </a:extLst>
          </p:cNvPr>
          <p:cNvSpPr>
            <a:spLocks noGrp="1"/>
          </p:cNvSpPr>
          <p:nvPr>
            <p:ph type="title"/>
          </p:nvPr>
        </p:nvSpPr>
        <p:spPr>
          <a:xfrm>
            <a:off x="913149" y="186438"/>
            <a:ext cx="10364451" cy="1073397"/>
          </a:xfrm>
        </p:spPr>
        <p:txBody>
          <a:bodyPr/>
          <a:lstStyle/>
          <a:p>
            <a:r>
              <a:rPr lang="en-US" dirty="0"/>
              <a:t>collaboration</a:t>
            </a:r>
          </a:p>
        </p:txBody>
      </p:sp>
      <p:sp>
        <p:nvSpPr>
          <p:cNvPr id="3" name="Content Placeholder 2">
            <a:extLst>
              <a:ext uri="{FF2B5EF4-FFF2-40B4-BE49-F238E27FC236}">
                <a16:creationId xmlns:a16="http://schemas.microsoft.com/office/drawing/2014/main" id="{7690729E-6EEF-4AD5-BCD5-41D0A7C612A2}"/>
              </a:ext>
            </a:extLst>
          </p:cNvPr>
          <p:cNvSpPr>
            <a:spLocks noGrp="1"/>
          </p:cNvSpPr>
          <p:nvPr>
            <p:ph sz="quarter" idx="13"/>
          </p:nvPr>
        </p:nvSpPr>
        <p:spPr>
          <a:xfrm>
            <a:off x="211015" y="975653"/>
            <a:ext cx="11254154" cy="5864081"/>
          </a:xfrm>
        </p:spPr>
        <p:txBody>
          <a:bodyPr>
            <a:normAutofit/>
          </a:bodyPr>
          <a:lstStyle/>
          <a:p>
            <a:r>
              <a:rPr lang="en-US" dirty="0"/>
              <a:t>For other people to work with you on the project:</a:t>
            </a:r>
          </a:p>
          <a:p>
            <a:r>
              <a:rPr lang="en-US" dirty="0"/>
              <a:t>In GitHub – </a:t>
            </a:r>
          </a:p>
          <a:p>
            <a:pPr lvl="2"/>
            <a:r>
              <a:rPr lang="en-US" dirty="0"/>
              <a:t>Select the repository to collaborate on</a:t>
            </a:r>
          </a:p>
          <a:p>
            <a:pPr lvl="2"/>
            <a:r>
              <a:rPr lang="en-US" dirty="0"/>
              <a:t>Select settings</a:t>
            </a:r>
          </a:p>
          <a:p>
            <a:pPr lvl="2"/>
            <a:r>
              <a:rPr lang="en-US" dirty="0"/>
              <a:t>Under Access select collaborators</a:t>
            </a:r>
          </a:p>
          <a:p>
            <a:pPr lvl="2"/>
            <a:r>
              <a:rPr lang="en-US" dirty="0"/>
              <a:t>Select Add People and enter their GitHub user name or email.</a:t>
            </a:r>
          </a:p>
          <a:p>
            <a:r>
              <a:rPr lang="en-US" dirty="0"/>
              <a:t>Once collaborators have been added, they can see this repository in  their account (click on the image) under repositories</a:t>
            </a:r>
          </a:p>
          <a:p>
            <a:r>
              <a:rPr lang="en-US" dirty="0"/>
              <a:t>Collaborators can then clone this repositories locally and start working on them.</a:t>
            </a:r>
          </a:p>
          <a:p>
            <a:r>
              <a:rPr lang="en-US" dirty="0"/>
              <a:t>In order to sync the changes from GitHub to your local project- </a:t>
            </a:r>
          </a:p>
          <a:p>
            <a:pPr lvl="1"/>
            <a:r>
              <a:rPr lang="en-US" dirty="0"/>
              <a:t>In VSC select :</a:t>
            </a:r>
          </a:p>
          <a:p>
            <a:pPr lvl="2"/>
            <a:r>
              <a:rPr lang="en-US" dirty="0"/>
              <a:t>Git, Pull or Sync. </a:t>
            </a:r>
          </a:p>
          <a:p>
            <a:pPr lvl="2"/>
            <a:r>
              <a:rPr lang="en-US" dirty="0"/>
              <a:t>Pull will update your local files with changes from GitHub, Sync – will update locally and then push any local changes you have made</a:t>
            </a:r>
          </a:p>
          <a:p>
            <a:pPr marL="914400" lvl="2" indent="0">
              <a:buNone/>
            </a:pPr>
            <a:endParaRPr lang="en-US" dirty="0"/>
          </a:p>
          <a:p>
            <a:pPr lvl="2"/>
            <a:endParaRPr lang="en-US" dirty="0"/>
          </a:p>
          <a:p>
            <a:pPr marL="1371600" lvl="3" indent="0">
              <a:buNone/>
            </a:pPr>
            <a:endParaRPr lang="en-US" dirty="0"/>
          </a:p>
          <a:p>
            <a:endParaRPr lang="he-IL" dirty="0"/>
          </a:p>
        </p:txBody>
      </p:sp>
      <p:sp>
        <p:nvSpPr>
          <p:cNvPr id="5" name="Slide Number Placeholder 4">
            <a:extLst>
              <a:ext uri="{FF2B5EF4-FFF2-40B4-BE49-F238E27FC236}">
                <a16:creationId xmlns:a16="http://schemas.microsoft.com/office/drawing/2014/main" id="{349688C0-97DD-4F97-AC64-C3B93ACBAD58}"/>
              </a:ext>
            </a:extLst>
          </p:cNvPr>
          <p:cNvSpPr>
            <a:spLocks noGrp="1"/>
          </p:cNvSpPr>
          <p:nvPr>
            <p:ph type="sldNum" sz="quarter" idx="12"/>
          </p:nvPr>
        </p:nvSpPr>
        <p:spPr/>
        <p:txBody>
          <a:bodyPr/>
          <a:lstStyle/>
          <a:p>
            <a:fld id="{9B5A90DD-3EBB-41EE-A237-54737F53FE3A}" type="slidenum">
              <a:rPr lang="en-US" smtClean="0"/>
              <a:t>10</a:t>
            </a:fld>
            <a:endParaRPr lang="en-US"/>
          </a:p>
        </p:txBody>
      </p:sp>
    </p:spTree>
    <p:extLst>
      <p:ext uri="{BB962C8B-B14F-4D97-AF65-F5344CB8AC3E}">
        <p14:creationId xmlns:p14="http://schemas.microsoft.com/office/powerpoint/2010/main" val="114472116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35917</TotalTime>
  <Words>1262</Words>
  <Application>Microsoft Office PowerPoint</Application>
  <PresentationFormat>Widescreen</PresentationFormat>
  <Paragraphs>81</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Tw Cen MT</vt:lpstr>
      <vt:lpstr>Droplet</vt:lpstr>
      <vt:lpstr>Github</vt:lpstr>
      <vt:lpstr>Version control systems (VCS)</vt:lpstr>
      <vt:lpstr>Why use VCS</vt:lpstr>
      <vt:lpstr>GIT</vt:lpstr>
      <vt:lpstr>Git and github</vt:lpstr>
      <vt:lpstr>Getting started</vt:lpstr>
      <vt:lpstr>branches</vt:lpstr>
      <vt:lpstr>GITHUB and VSC</vt:lpstr>
      <vt:lpstr>Share project in github</vt:lpstr>
      <vt:lpstr>collaboration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elmalech</dc:creator>
  <cp:lastModifiedBy>Shir Aviv-Reuven</cp:lastModifiedBy>
  <cp:revision>578</cp:revision>
  <cp:lastPrinted>2017-12-31T11:46:56Z</cp:lastPrinted>
  <dcterms:created xsi:type="dcterms:W3CDTF">2017-09-26T09:59:54Z</dcterms:created>
  <dcterms:modified xsi:type="dcterms:W3CDTF">2025-11-13T12:30:44Z</dcterms:modified>
</cp:coreProperties>
</file>